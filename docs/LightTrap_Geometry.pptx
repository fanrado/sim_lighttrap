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7"/>
  </p:normalViewPr>
  <p:slideViewPr>
    <p:cSldViewPr snapToGrid="0" snapToObjects="1">
      <p:cViewPr varScale="1">
        <p:scale>
          <a:sx n="131" d="100"/>
          <a:sy n="131" d="100"/>
        </p:scale>
        <p:origin x="16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45720"/>
          </a:xfrm>
          <a:prstGeom prst="rect">
            <a:avLst/>
          </a:prstGeom>
          <a:solidFill>
            <a:srgbClr val="1A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LightTrap Detector —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9FC6FF"/>
                </a:solidFill>
                <a:latin typeface="Calibri"/>
              </a:rPr>
              <a:t>A two-stage wavelength-shifting light trap immersed in liquid argon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8E4F5"/>
                </a:solidFill>
                <a:latin typeface="Calibri"/>
              </a:rPr>
              <a:t>VUV LAr scintillation (128 nm)  →  pTP film  →  UV acrylic carrier  →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8E4F5"/>
                </a:solidFill>
                <a:latin typeface="Calibri"/>
              </a:rPr>
              <a:t>LAr gap  →  blue WLS slab  →  edge SiPMs (Broadcom PDE)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500" b="0">
              <a:solidFill>
                <a:srgbClr val="D8E4F5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06060"/>
                </a:solidFill>
                <a:latin typeface="Calibri"/>
              </a:rPr>
              <a:t>Geometry as built in  src/construction.cc  ·  default parameters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Concept &amp; photon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6FF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2863"/>
            <a:ext cx="1124712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dirty="0">
                <a:solidFill>
                  <a:srgbClr val="202020"/>
                </a:solidFill>
                <a:latin typeface="Calibri"/>
              </a:rPr>
              <a:t>▸ Purpose: efficiently convert 128 nm VUV argon scintillation into blue light that </a:t>
            </a:r>
            <a:r>
              <a:rPr b="1" dirty="0" err="1">
                <a:solidFill>
                  <a:srgbClr val="202020"/>
                </a:solidFill>
                <a:latin typeface="Calibri"/>
              </a:rPr>
              <a:t>SiPMs</a:t>
            </a:r>
            <a:r>
              <a:rPr b="1" dirty="0">
                <a:solidFill>
                  <a:srgbClr val="202020"/>
                </a:solidFill>
                <a:latin typeface="Calibri"/>
              </a:rPr>
              <a:t> can detect, over a large-area, thin module.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02020"/>
                </a:solidFill>
                <a:latin typeface="Calibri"/>
              </a:rPr>
              <a:t>▸ Two wavelength-shifting (WLS) stages in series:</a:t>
            </a:r>
          </a:p>
          <a:p>
            <a:pPr lvl="1">
              <a:spcAft>
                <a:spcPts val="600"/>
              </a:spcAft>
            </a:pPr>
            <a:r>
              <a:rPr sz="1600" b="0" dirty="0">
                <a:solidFill>
                  <a:srgbClr val="606060"/>
                </a:solidFill>
                <a:latin typeface="Calibri"/>
              </a:rPr>
              <a:t>– Stage 1 — p-terphenyl (</a:t>
            </a:r>
            <a:r>
              <a:rPr sz="1600" b="0" dirty="0" err="1">
                <a:solidFill>
                  <a:srgbClr val="606060"/>
                </a:solidFill>
                <a:latin typeface="Calibri"/>
              </a:rPr>
              <a:t>pTP</a:t>
            </a:r>
            <a:r>
              <a:rPr sz="1600" b="0" dirty="0">
                <a:solidFill>
                  <a:srgbClr val="606060"/>
                </a:solidFill>
                <a:latin typeface="Calibri"/>
              </a:rPr>
              <a:t>) film absorbs VUV and re-emits at 340–430 nm.</a:t>
            </a:r>
          </a:p>
          <a:p>
            <a:pPr lvl="1">
              <a:spcAft>
                <a:spcPts val="600"/>
              </a:spcAft>
            </a:pPr>
            <a:r>
              <a:rPr sz="1600" b="0" dirty="0">
                <a:solidFill>
                  <a:srgbClr val="606060"/>
                </a:solidFill>
                <a:latin typeface="Calibri"/>
              </a:rPr>
              <a:t>– Stage 2 — blue-shifting acrylic slab absorbs 340–430 nm and re-emits at ~430 nm.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02020"/>
                </a:solidFill>
                <a:latin typeface="Calibri"/>
              </a:rPr>
              <a:t>▸ Blue photons are guided inside the 6 mm slab by total internal reflection and 98% </a:t>
            </a:r>
            <a:r>
              <a:rPr b="1" dirty="0" err="1">
                <a:solidFill>
                  <a:srgbClr val="202020"/>
                </a:solidFill>
                <a:latin typeface="Calibri"/>
              </a:rPr>
              <a:t>Vikuiti</a:t>
            </a:r>
            <a:r>
              <a:rPr b="1" dirty="0">
                <a:solidFill>
                  <a:srgbClr val="202020"/>
                </a:solidFill>
                <a:latin typeface="Calibri"/>
              </a:rPr>
              <a:t> (3M ESR) reflectors, then read out by 30 </a:t>
            </a:r>
            <a:r>
              <a:rPr b="1" dirty="0" err="1">
                <a:solidFill>
                  <a:srgbClr val="202020"/>
                </a:solidFill>
                <a:latin typeface="Calibri"/>
              </a:rPr>
              <a:t>SiPMs</a:t>
            </a:r>
            <a:r>
              <a:rPr b="1" dirty="0">
                <a:solidFill>
                  <a:srgbClr val="202020"/>
                </a:solidFill>
                <a:latin typeface="Calibri"/>
              </a:rPr>
              <a:t> on the ±y edges.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02020"/>
                </a:solidFill>
                <a:latin typeface="Calibri"/>
              </a:rPr>
              <a:t>▸ Everything sits inside a liquid-argon world that is both the scintillator and the optical propagation medium.</a:t>
            </a:r>
          </a:p>
        </p:txBody>
      </p:sp>
      <p:pic>
        <p:nvPicPr>
          <p:cNvPr id="7" name="Picture 6" descr="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60520"/>
            <a:ext cx="11338560" cy="26755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LightTrap detector geometry  ·  source: src/construction.cc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060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Coordinate system &amp; module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6FF"/>
                </a:solidFill>
                <a:latin typeface="Calibri"/>
              </a:rPr>
              <a:t>FRAME OF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400800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dirty="0">
                <a:solidFill>
                  <a:srgbClr val="202020"/>
                </a:solidFill>
                <a:latin typeface="Calibri"/>
              </a:rPr>
              <a:t>▸ Right-handed x–y–z; photons of interest propagate in +z.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02020"/>
                </a:solidFill>
                <a:latin typeface="Calibri"/>
              </a:rPr>
              <a:t>▸ z reference: the back (+z) face of the blue WLS slab is z = 0.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02020"/>
                </a:solidFill>
                <a:latin typeface="Calibri"/>
              </a:rPr>
              <a:t>▸ All component z-positions are derived from the layer thicknesses, so changing any thickness shifts everything downstream consistently.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02020"/>
                </a:solidFill>
                <a:latin typeface="Calibri"/>
              </a:rPr>
              <a:t>▸ Lateral size (x, y): 150 × 150 mm square module (</a:t>
            </a:r>
            <a:r>
              <a:rPr b="1" dirty="0" err="1">
                <a:solidFill>
                  <a:srgbClr val="202020"/>
                </a:solidFill>
                <a:latin typeface="Calibri"/>
              </a:rPr>
              <a:t>lightTrapSize</a:t>
            </a:r>
            <a:r>
              <a:rPr b="1" dirty="0">
                <a:solidFill>
                  <a:srgbClr val="202020"/>
                </a:solidFill>
                <a:latin typeface="Calibri"/>
              </a:rPr>
              <a:t> = 15 cm).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02020"/>
                </a:solidFill>
                <a:latin typeface="Calibri"/>
              </a:rPr>
              <a:t>▸ World volume: liquid-argon box, 60% larger on each side → 180 × 180 × 180 mm; rendered invisible so daughters show.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02020"/>
                </a:solidFill>
                <a:latin typeface="Calibri"/>
              </a:rPr>
              <a:t>▸ Full stack spans z ≈ −12.0 mm (</a:t>
            </a:r>
            <a:r>
              <a:rPr b="1" dirty="0" err="1">
                <a:solidFill>
                  <a:srgbClr val="202020"/>
                </a:solidFill>
                <a:latin typeface="Calibri"/>
              </a:rPr>
              <a:t>pTP</a:t>
            </a:r>
            <a:r>
              <a:rPr b="1" dirty="0">
                <a:solidFill>
                  <a:srgbClr val="202020"/>
                </a:solidFill>
                <a:latin typeface="Calibri"/>
              </a:rPr>
              <a:t> front face) to +0.165 mm (back of leak detector).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4630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09459" y="1219917"/>
            <a:ext cx="4709160" cy="4160520"/>
          </a:xfrm>
          <a:prstGeom prst="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0920" y="1554480"/>
            <a:ext cx="4297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dirty="0">
                <a:solidFill>
                  <a:srgbClr val="0B1F3A"/>
                </a:solidFill>
                <a:latin typeface="Calibri"/>
              </a:rPr>
              <a:t>Key envelope </a:t>
            </a:r>
            <a:r>
              <a:rPr sz="2000" b="1" dirty="0">
                <a:solidFill>
                  <a:srgbClr val="0B1F3A"/>
                </a:solidFill>
                <a:latin typeface="Calibri"/>
              </a:rPr>
              <a:t>numbers</a:t>
            </a:r>
            <a:endParaRPr b="1" dirty="0">
              <a:solidFill>
                <a:srgbClr val="0B1F3A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867155"/>
              </p:ext>
            </p:extLst>
          </p:nvPr>
        </p:nvGraphicFramePr>
        <p:xfrm>
          <a:off x="7360920" y="2148840"/>
          <a:ext cx="4206239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Calibri"/>
                        </a:rPr>
                        <a:t>Module x, y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Calibri"/>
                        </a:rPr>
                        <a:t>150 × 150 mm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Calibri"/>
                        </a:rPr>
                        <a:t>World box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Calibri"/>
                        </a:rPr>
                        <a:t>180³ mm (LAr)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Calibri"/>
                        </a:rPr>
                        <a:t>Stack depth (z)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Calibri"/>
                        </a:rPr>
                        <a:t>≈ 12.2 mm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Calibri"/>
                        </a:rPr>
                        <a:t>z = 0 datum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Calibri"/>
                        </a:rPr>
                        <a:t>blue-WLS back face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Calibri"/>
                        </a:rPr>
                        <a:t>Photon axis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+z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LightTrap detector geometry  ·  source: src/construction.cc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556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060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Layer stack (side view, true scale in 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6FF"/>
                </a:solidFill>
                <a:latin typeface="Calibri"/>
              </a:rPr>
              <a:t>THE STACK</a:t>
            </a:r>
          </a:p>
        </p:txBody>
      </p:sp>
      <p:pic>
        <p:nvPicPr>
          <p:cNvPr id="6" name="Picture 5" descr="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069848"/>
            <a:ext cx="11567160" cy="4825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1409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06060"/>
                </a:solidFill>
                <a:latin typeface="Calibri"/>
              </a:rPr>
              <a:t>Sub-millimetre features (pTP 2 µm, Vikuiti 65 µm, the two 0.1 mm counter slabs) are called out; the mm-scale acrylic carrier, LAr gap and WLS slab are drawn to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LightTrap detector geometry  ·  source: src/construction.cc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060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Layer-by-layer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6FF"/>
                </a:solidFill>
                <a:latin typeface="Calibri"/>
              </a:rPr>
              <a:t>GEOMETRY DETAIL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038859"/>
              </p:ext>
            </p:extLst>
          </p:nvPr>
        </p:nvGraphicFramePr>
        <p:xfrm>
          <a:off x="457200" y="1928308"/>
          <a:ext cx="11475717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5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42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8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z-range [mm]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Thick.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Calibri"/>
                        </a:rPr>
                        <a:t>pTP WLS film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Calibri"/>
                        </a:rPr>
                        <a:t>−12.002 … −12.000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Calibri"/>
                        </a:rPr>
                        <a:t>2 µm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020"/>
                          </a:solidFill>
                          <a:latin typeface="Calibri"/>
                        </a:rPr>
                        <a:t>pTP (C₁₈H₁₄)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1st WLS: VUV → 340–430 nm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UV-transp. acrylic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−12.000 … −9.000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3 mm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PMMA UVT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Carrier; transmits near-UV, absorbs residual VUV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First-layer backplane counter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−8.990 … −8.890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0.1 mm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LAr (worldMat)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Pass-through counter → ntuple 7 (FirstLayerBackplane); 0.01 mm behind back face (TIR-aware)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LAr gap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−9.000 … −6.000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3 mm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liquid argon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Optical gap, first layer → blue slab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02020"/>
                          </a:solidFill>
                          <a:latin typeface="Calibri"/>
                        </a:rPr>
                        <a:t>Blue WLS slab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−6.000 … 0.000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6 mm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blue WLS acrylic (C₉H₁₀)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2nd WLS: → ~430 nm; light guide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Vikuiti backplane foil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0.000 … 0.065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65 µm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PMMA + ESR skin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98% back reflector (+z face)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Backplane leak detector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0.065 … 0.165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0.1 mm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LAr (worldMat)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Terminal counter → ntuple 6 (SecondLayerBackplane)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SiPMs (±y edges)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at z-centre −3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6×6 mm face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LAr + PDE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30 total, 15 per edge; readout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202020"/>
                          </a:solidFill>
                          <a:latin typeface="Calibri"/>
                        </a:rPr>
                        <a:t>Vikuiti</a:t>
                      </a:r>
                      <a:r>
                        <a:rPr sz="1400" b="1" dirty="0">
                          <a:solidFill>
                            <a:srgbClr val="202020"/>
                          </a:solidFill>
                          <a:latin typeface="Calibri"/>
                        </a:rPr>
                        <a:t> edge foils (±x)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at z-centre −3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65 µm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PMMA + ESR skin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02020"/>
                          </a:solidFill>
                          <a:latin typeface="Calibri"/>
                        </a:rPr>
                        <a:t>Lateral reflectors (no </a:t>
                      </a:r>
                      <a:r>
                        <a:rPr sz="1400" dirty="0" err="1">
                          <a:solidFill>
                            <a:srgbClr val="202020"/>
                          </a:solidFill>
                          <a:latin typeface="Calibri"/>
                        </a:rPr>
                        <a:t>SiPMs</a:t>
                      </a:r>
                      <a:r>
                        <a:rPr sz="1400" dirty="0">
                          <a:solidFill>
                            <a:srgbClr val="202020"/>
                          </a:solidFill>
                          <a:latin typeface="Calibri"/>
                        </a:rPr>
                        <a:t> on ±x)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202020"/>
                          </a:solidFill>
                          <a:latin typeface="Calibri"/>
                        </a:rPr>
                        <a:t>First-layer edge counters (±x)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spans first layer (−12.0 … −9.0)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0.1 mm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LAr (worldMat)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02020"/>
                          </a:solidFill>
                          <a:latin typeface="Calibri"/>
                        </a:rPr>
                        <a:t>Pass-through counter → ntuple 8 (FirstLayerEdges)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49323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LightTrap detector geometry  ·  source: src/construction.cc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060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Materials &amp; optical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6FF"/>
                </a:solidFill>
                <a:latin typeface="Calibri"/>
              </a:rPr>
              <a:t>MATERIALS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1475718" cy="1187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2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8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Composition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ρ [g/cm³]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optical role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pTP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C₁₈H₁₄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1.23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1.65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WLS abs 106–305 nm, emit 340–430 nm; τ = 1.136 ns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UV-transp. acrylic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C₅H₈O₂ (PMMA)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1.49–1.55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UV-transparent carrier; strong VUV absorption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Blue WLS acrylic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C₉H₁₀ (EJ-280-type)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1.023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1.58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WLS abs 340–430 nm, emit ~430 nm; τ = 1.26 ns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acrylic (McMaster)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C₅H₈O₂ (PMMA)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1.50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Body material for Vikuiti foils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Liquid argon (world)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G4_lAr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1.40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1.23–5.45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Scint. peak 128 nm, 24000 γ/MeV, τ 7 / 1400 ns; Rayleigh 90 cm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Refractive index of LAr is strongly dispersive in the VUV (n rises from 1.23 in the visible to 5.45 at 106 nm) — all tables are defined on 13 wavelength points (530 → 106 nm), densified across 115–145 nm to bracket the 128 nm scintillation peak.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LAr also carries SCINTILLATIONYIELD1/2 = 0.75 / 0.25 (fast/slow), RESOLUTIONSCALE = 1.0, Birks constant 0.694 mm/MeV.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Any of these tables can be overridden from sim_config.yaml (materials: section); otherwise the hard-coded defaults above apply.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LightTrap detector geometry  ·  source: src/construction.cc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0606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SiPM array &amp; readout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6FF"/>
                </a:solidFill>
                <a:latin typeface="Calibri"/>
              </a:rPr>
              <a:t>READOUT</a:t>
            </a:r>
          </a:p>
        </p:txBody>
      </p:sp>
      <p:pic>
        <p:nvPicPr>
          <p:cNvPr id="6" name="Picture 5" descr="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5067432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30 SiPMs total, split 15 / 15 across the +y and −y edges of the blue WLS slab.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Each SiPM presents a 6 × 6 mm sensitive face against the slab edge; 1 mm depth extends outward in ±y.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SiPM z half-size = slab half-thickness (3 mm) → the face spans the full 6 mm slab edge.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Uniform x-pitch = 150 / 15 = 10 mm; centres at x = −70 … +70 mm.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Copy numbers: 0–14 = +y edge, 15–29 = −y edge.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Sensitive detector 'SensitiveDetector' applies the Broadcom PDE table (pde_broadcom.dat) per photon.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The ±x edges carry no SiPMs — they are covered by Vikuiti reflectors instead.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LightTrap detector geometry  ·  source: src/construction.cc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0606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Reflectors — 3M Vikuiti / ESR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6FF"/>
                </a:solidFill>
                <a:latin typeface="Calibri"/>
              </a:rPr>
              <a:t>LIGHT CONTAINMENT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Vikuiti Enhanced Specular Reflector (ESR): dielectric-metal optical surface, ground/unified finish, 98% reflectivity (flat across all 13 wavelengths).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Implemented as G4LogicalSkinSurfaces on thin PMMA foil volumes (65 µm), so both faces reflect.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00400"/>
          <a:ext cx="1124711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6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6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57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Reflector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Backplane foil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+z face of slab (z: 0 … 0.065)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150 × 150 mm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Reflects ~98% forward-leaking light back to SiPMs; ~2% transmits to leak detector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Edge foil +x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+x face of slab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150 (y) × 6 (z) mm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Lateral reflector — recycles photons toward ±y SiPM edges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Edge foil −x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−x face of slab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150 (y) × 6 (z) mm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Lateral reflector — recycles photons toward ±y SiPM edges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LightTrap detector geometry  ·  source: src/construction.cc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060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Sensitive detectors &amp; output ntuples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6FF"/>
                </a:solidFill>
                <a:latin typeface="Calibri"/>
              </a:rPr>
              <a:t>DIGITISATION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8" cy="169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6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7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Detector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Class / mode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SiPM readout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logicSiPMs (×30)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MySensitiveDetector (PDE)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SiPMPhotons (0), SiPMHits (1)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All photons at SiPM face (0); Broadcom-PDE-detected subset (1)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First-layer backplane counter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logicFirstLayerExitDet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MyLeakDetector, pass-through (killTrack = false)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ntuple 7 'FirstLayerBackplane'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eventID, x, y, z, t, wavelength, cosθz, forward — track continues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Backplane leak detector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logicBackplaneLeakDet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MyLeakDetector, terminal (killTrack = true)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ntuple 6 'SecondLayerBackplane'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Same fields incl. forward flag; track killed on entry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First-layer edge counters (±x)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logicFirstLayerEdgeDet (×2)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MyLeakDetector, pass-through (killTrack = false)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ntuple 8 'FirstLayerEdges'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alibri"/>
                        </a:rPr>
                        <a:t>Same fields incl. forward flag; track continues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01236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233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The first-layer backplane counter is a 0.1 mm LAr slab set 0.01 mm behind the first-layer back (+z) face, so photons total-internally-reflected at that face are not counted — only light that escapes the first layer is recorded. Built from world material (same n), it adds no optical boundary and does not kill the photon.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Direction is tagged two ways: cosθz (momentum-z cosine) and an explicit forward flag (1 = +z, out of layer 1; 0 = back-going). This separates first-layer light from photons reflected by the second-layer Vikuiti backplane foil that escape back toward the counter (forward = 0).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Pairing WLSPhoton (birth) with FirstLayerBackplane[forward = 1] gives the first-layer transport / collection efficiency.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LightTrap detector geometry  ·  source: src/construction.cc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0606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Optical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6FF"/>
                </a:solidFill>
                <a:latin typeface="Calibri"/>
              </a:rPr>
              <a:t>SURFACE PHYSICS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pTP interface surface — both faces of the pTP film (outer LAr-facing and inner acrylic-facing) share one ground/unified dielectric-dielectric surface, applied as G4LogicalBorderSurfaces in both directions on pTP↔LAr and pTP↔UV-acrylic.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Its facet-slope RMS is pTPsigmaAlpha (radians), configurable via geometry.pTPsigmaAlpha_rad or /detector/pTPsigmaAlpha. Default = 0 → perfectly smooth, specular Fresnel.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Physics note: a perfectly smooth 2 µm film total-internal-reflects ~55% of WLS photons and traps them. Raising sigmaAlpha (e.g. 0.1 rad ≈ 6°) models evaporated-film roughness so guided modes scatter out within a few bounces.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▸ Vikuiti skin surfaces — dielectric-metal, ground/unified, 98% reflectivity, on the backplane and both ±x edge foils.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LightTrap detector geometry  ·  source: src/construction.cc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0606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Configurable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6FF"/>
                </a:solidFill>
                <a:latin typeface="Calibri"/>
              </a:rPr>
              <a:t>TUNABILITY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9297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dirty="0">
                <a:solidFill>
                  <a:srgbClr val="202020"/>
                </a:solidFill>
                <a:latin typeface="Calibri"/>
              </a:rPr>
              <a:t>▸ Geometry is driven by the /detector/ messenger; </a:t>
            </a:r>
            <a:r>
              <a:rPr sz="1600" b="1" dirty="0" err="1">
                <a:solidFill>
                  <a:srgbClr val="202020"/>
                </a:solidFill>
                <a:latin typeface="Calibri"/>
              </a:rPr>
              <a:t>sim_config.yaml</a:t>
            </a:r>
            <a:r>
              <a:rPr sz="1600" b="1" dirty="0">
                <a:solidFill>
                  <a:srgbClr val="202020"/>
                </a:solidFill>
                <a:latin typeface="Calibri"/>
              </a:rPr>
              <a:t> (geometry: section) sets these at startup, else constructor defaults apply.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089396"/>
              </p:ext>
            </p:extLst>
          </p:nvPr>
        </p:nvGraphicFramePr>
        <p:xfrm>
          <a:off x="548640" y="2601917"/>
          <a:ext cx="11247118" cy="2115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2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4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YAML key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Messenger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54864" marR="36576" marT="18288" marB="18288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Calibri"/>
                        </a:rPr>
                        <a:t>lightTrapSize_cm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/detector/lighttrapsize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15 cm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Square module side (x, y)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Calibri"/>
                        </a:rPr>
                        <a:t>pTPLayerThickness_mm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/detector/pTPlayerthickness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2 µm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pTP WLS film thickness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Calibri"/>
                        </a:rPr>
                        <a:t>uvAcrylicThickness_mm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/detector/uvAcrylicThick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3 mm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UV-transparent carrier thickness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Calibri"/>
                        </a:rPr>
                        <a:t>LArThickness_mm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/detector/LArthickness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3 mm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LAr gap, first layer → blue slab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Calibri"/>
                        </a:rPr>
                        <a:t>pTPSubstrateThickness_mm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/detector/pTPsubstratethickness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6 mm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Blue WLS slab thickness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Calibri"/>
                        </a:rPr>
                        <a:t>nSiPMs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/detector/nSiPMs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Total SiPMs (split across ±y)</a:t>
                      </a:r>
                    </a:p>
                  </a:txBody>
                  <a:tcPr marL="54864" marR="36576" marT="9144" marB="9144"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Calibri"/>
                        </a:rPr>
                        <a:t>pTPsigmaAlpha_rad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/detector/pTPsigmaAlpha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202020"/>
                          </a:solidFill>
                          <a:latin typeface="Calibri"/>
                        </a:rPr>
                        <a:t>pTP</a:t>
                      </a:r>
                      <a:r>
                        <a:rPr sz="1600" dirty="0">
                          <a:solidFill>
                            <a:srgbClr val="202020"/>
                          </a:solidFill>
                          <a:latin typeface="Calibri"/>
                        </a:rPr>
                        <a:t> surface facet-slope RMS [rad]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LightTrap detector geometry  ·  source: src/construction.cc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0606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1877</Words>
  <Application>Microsoft Macintosh PowerPoint</Application>
  <PresentationFormat>Widescreen</PresentationFormat>
  <Paragraphs>250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Razakamiandra, Rado Fanantenana</cp:lastModifiedBy>
  <cp:revision>4</cp:revision>
  <dcterms:created xsi:type="dcterms:W3CDTF">2013-01-27T09:14:16Z</dcterms:created>
  <dcterms:modified xsi:type="dcterms:W3CDTF">2026-07-11T01:00:40Z</dcterms:modified>
  <cp:category/>
</cp:coreProperties>
</file>