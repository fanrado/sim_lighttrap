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68"/>
  </p:normalViewPr>
  <p:slideViewPr>
    <p:cSldViewPr snapToGrid="0" snapToObjects="1">
      <p:cViewPr varScale="1">
        <p:scale>
          <a:sx n="119" d="100"/>
          <a:sy n="119" d="100"/>
        </p:scale>
        <p:origin x="856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114800"/>
            <a:ext cx="12191695" cy="54864"/>
          </a:xfrm>
          <a:prstGeom prst="rect">
            <a:avLst/>
          </a:prstGeom>
          <a:solidFill>
            <a:srgbClr val="72B7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69848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LightTrap Simulation — Analysis Summary</a:t>
            </a:r>
          </a:p>
          <a:p>
            <a:pPr algn="l"/>
            <a:r>
              <a:rPr sz="2000" b="0">
                <a:solidFill>
                  <a:srgbClr val="72B7B2"/>
                </a:solidFill>
                <a:latin typeface="Calibri"/>
              </a:rPr>
              <a:t>Two-layer WLS light trap · Geant4 optical photon transport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8912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Run: output_apexltsim0.root  ·  10,000,000 primary photons</a:t>
            </a:r>
          </a:p>
          <a:p>
            <a:pPr algn="l"/>
            <a:r>
              <a:rPr sz="1400" b="0">
                <a:solidFill>
                  <a:srgbClr val="B8C4D0"/>
                </a:solidFill>
                <a:latin typeface="Calibri"/>
              </a:rPr>
              <a:t>Source: analysis/analyze_lighttrap.ipynb  (PyROOT + RDataFrame)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72B7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72B7B2"/>
                </a:solidFill>
                <a:latin typeface="Calibri"/>
              </a:rPr>
              <a:t>OVERVIEW</a:t>
            </a:r>
          </a:p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Device &amp; simulation data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5669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F2D3D"/>
                </a:solidFill>
                <a:latin typeface="Calibri"/>
              </a:rPr>
              <a:t>•  Two-layer light trap converts UV → blue, guides light to edge SiPMs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5A636E"/>
                </a:solidFill>
                <a:latin typeface="Calibri"/>
              </a:rPr>
              <a:t>–  First layer: thin pTP film on UV-transparent acrylic carrier — absorbs incident UV, re-emits near-UV/blue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5A636E"/>
                </a:solidFill>
                <a:latin typeface="Calibri"/>
              </a:rPr>
              <a:t>–  Second layer: blue-WLS acrylic slab — re-emits blue, transports by TIR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5A636E"/>
                </a:solidFill>
                <a:latin typeface="Calibri"/>
              </a:rPr>
              <a:t>–  SiPMs sit flush to the ±y edges of the slab; Vikuiti ESR foil backs it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5A636E"/>
                </a:solidFill>
                <a:latin typeface="Calibri"/>
              </a:rPr>
              <a:t>–  15 cm × 15 cm module; pTP 2 µm / UV-acrylic 3 mm / LAr gap 3 mm / blue slab 6 mm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F2D3D"/>
                </a:solidFill>
                <a:latin typeface="Calibri"/>
              </a:rPr>
              <a:t>•  9 TTrees record every stage of the photon chain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5A636E"/>
                </a:solidFill>
                <a:latin typeface="Calibri"/>
              </a:rPr>
              <a:t>–  Primary, WLSPhoton (births), SiPMPhotons/SiPMHits (pre/post-PDE)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5A636E"/>
                </a:solidFill>
                <a:latin typeface="Calibri"/>
              </a:rPr>
              <a:t>–  Leak counters: FirstLayerBackplane / FirstLayerEdges / SecondLayerBackplane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5A636E"/>
                </a:solidFill>
                <a:latin typeface="Calibri"/>
              </a:rPr>
              <a:t>–  OpticalValidation: Fresnel refl/ transmit at first surface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1463040"/>
            <a:ext cx="5120640" cy="105156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0" y="1463040"/>
            <a:ext cx="5120640" cy="73152"/>
          </a:xfrm>
          <a:prstGeom prst="rect">
            <a:avLst/>
          </a:prstGeom>
          <a:solidFill>
            <a:srgbClr val="5A63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1572768"/>
            <a:ext cx="5120640" cy="9418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1">
                <a:solidFill>
                  <a:srgbClr val="5A636E"/>
                </a:solidFill>
              </a:rPr>
              <a:t>10.0 M</a:t>
            </a:r>
          </a:p>
          <a:p>
            <a:pPr algn="ctr"/>
            <a:r>
              <a:rPr sz="1200">
                <a:solidFill>
                  <a:srgbClr val="5A636E"/>
                </a:solidFill>
              </a:rPr>
              <a:t>primary photons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2697480"/>
            <a:ext cx="5120640" cy="105156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0" y="2697480"/>
            <a:ext cx="5120640" cy="73152"/>
          </a:xfrm>
          <a:prstGeom prst="rect">
            <a:avLst/>
          </a:prstGeom>
          <a:solidFill>
            <a:srgbClr val="4C7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2807208"/>
            <a:ext cx="5120640" cy="9418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1">
                <a:solidFill>
                  <a:srgbClr val="4C78A8"/>
                </a:solidFill>
              </a:rPr>
              <a:t>14.1 M</a:t>
            </a:r>
          </a:p>
          <a:p>
            <a:pPr algn="ctr"/>
            <a:r>
              <a:rPr sz="1200">
                <a:solidFill>
                  <a:srgbClr val="5A636E"/>
                </a:solidFill>
              </a:rPr>
              <a:t>WLS births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3931920"/>
            <a:ext cx="5120640" cy="105156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00800" y="3931920"/>
            <a:ext cx="5120640" cy="73152"/>
          </a:xfrm>
          <a:prstGeom prst="rect">
            <a:avLst/>
          </a:prstGeom>
          <a:solidFill>
            <a:srgbClr val="72B7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0" y="4041648"/>
            <a:ext cx="5120640" cy="9418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1">
                <a:solidFill>
                  <a:srgbClr val="72B7B2"/>
                </a:solidFill>
              </a:rPr>
              <a:t>558 k</a:t>
            </a:r>
          </a:p>
          <a:p>
            <a:pPr algn="ctr"/>
            <a:r>
              <a:rPr sz="1200">
                <a:solidFill>
                  <a:srgbClr val="5A636E"/>
                </a:solidFill>
              </a:rPr>
              <a:t>reach SiPM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5166360"/>
            <a:ext cx="5120640" cy="105156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400800" y="5166360"/>
            <a:ext cx="5120640" cy="73152"/>
          </a:xfrm>
          <a:prstGeom prst="rect">
            <a:avLst/>
          </a:prstGeom>
          <a:solidFill>
            <a:srgbClr val="54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0" y="5276088"/>
            <a:ext cx="5120640" cy="9418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1">
                <a:solidFill>
                  <a:srgbClr val="54A24B"/>
                </a:solidFill>
              </a:rPr>
              <a:t>333 k</a:t>
            </a:r>
          </a:p>
          <a:p>
            <a:pPr algn="ctr"/>
            <a:r>
              <a:rPr sz="1200">
                <a:solidFill>
                  <a:srgbClr val="5A636E"/>
                </a:solidFill>
              </a:rPr>
              <a:t>detected p.e.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72B7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72B7B2"/>
                </a:solidFill>
                <a:latin typeface="Calibri"/>
              </a:rPr>
              <a:t>KEY RESULT</a:t>
            </a:r>
          </a:p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Efficiency chain</a:t>
            </a:r>
          </a:p>
        </p:txBody>
      </p:sp>
      <p:pic>
        <p:nvPicPr>
          <p:cNvPr id="5" name="Picture 4" descr="fig_00_cell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7315200" cy="319900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955279" y="1417320"/>
            <a:ext cx="3931920" cy="105156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955279" y="1417320"/>
            <a:ext cx="3931920" cy="73152"/>
          </a:xfrm>
          <a:prstGeom prst="rect">
            <a:avLst/>
          </a:prstGeom>
          <a:solidFill>
            <a:srgbClr val="E457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955279" y="1527048"/>
            <a:ext cx="3931920" cy="9418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1">
                <a:solidFill>
                  <a:srgbClr val="E45756"/>
                </a:solidFill>
              </a:rPr>
              <a:t>85.90%</a:t>
            </a:r>
          </a:p>
          <a:p>
            <a:pPr algn="ctr"/>
            <a:r>
              <a:rPr sz="1200">
                <a:solidFill>
                  <a:srgbClr val="5A636E"/>
                </a:solidFill>
              </a:rPr>
              <a:t>pTP WLS eff. (N_pTP / N_primary)</a:t>
            </a:r>
          </a:p>
        </p:txBody>
      </p:sp>
      <p:sp>
        <p:nvSpPr>
          <p:cNvPr id="9" name="Rectangle 8"/>
          <p:cNvSpPr/>
          <p:nvPr/>
        </p:nvSpPr>
        <p:spPr>
          <a:xfrm>
            <a:off x="7955279" y="2624328"/>
            <a:ext cx="3931920" cy="105156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955279" y="2624328"/>
            <a:ext cx="3931920" cy="73152"/>
          </a:xfrm>
          <a:prstGeom prst="rect">
            <a:avLst/>
          </a:prstGeom>
          <a:solidFill>
            <a:srgbClr val="72B7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955279" y="2734056"/>
            <a:ext cx="3931920" cy="9418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1">
                <a:solidFill>
                  <a:srgbClr val="72B7B2"/>
                </a:solidFill>
              </a:rPr>
              <a:t>10.06%</a:t>
            </a:r>
          </a:p>
          <a:p>
            <a:pPr algn="ctr"/>
            <a:r>
              <a:rPr sz="1200">
                <a:solidFill>
                  <a:srgbClr val="5A636E"/>
                </a:solidFill>
              </a:rPr>
              <a:t>collection (SiPM / blue)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55279" y="3831336"/>
            <a:ext cx="3931920" cy="105156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955279" y="3831336"/>
            <a:ext cx="3931920" cy="73152"/>
          </a:xfrm>
          <a:prstGeom prst="rect">
            <a:avLst/>
          </a:prstGeom>
          <a:solidFill>
            <a:srgbClr val="4C7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955279" y="3941064"/>
            <a:ext cx="3931920" cy="9418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1">
                <a:solidFill>
                  <a:srgbClr val="4C78A8"/>
                </a:solidFill>
              </a:rPr>
              <a:t>6.01%</a:t>
            </a:r>
          </a:p>
          <a:p>
            <a:pPr algn="ctr"/>
            <a:r>
              <a:rPr sz="1200">
                <a:solidFill>
                  <a:srgbClr val="5A636E"/>
                </a:solidFill>
              </a:rPr>
              <a:t>detection (hits / blue)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55279" y="5038344"/>
            <a:ext cx="3931920" cy="105156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955279" y="5038344"/>
            <a:ext cx="3931920" cy="73152"/>
          </a:xfrm>
          <a:prstGeom prst="rect">
            <a:avLst/>
          </a:prstGeom>
          <a:solidFill>
            <a:srgbClr val="54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955279" y="5148072"/>
            <a:ext cx="3931920" cy="9418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1">
                <a:solidFill>
                  <a:srgbClr val="54A24B"/>
                </a:solidFill>
              </a:rPr>
              <a:t>3.34%</a:t>
            </a:r>
          </a:p>
          <a:p>
            <a:pPr algn="ctr"/>
            <a:r>
              <a:rPr sz="1200">
                <a:solidFill>
                  <a:srgbClr val="5A636E"/>
                </a:solidFill>
              </a:rPr>
              <a:t>overall (p.e. / primary)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72B7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72B7B2"/>
                </a:solidFill>
                <a:latin typeface="Calibri"/>
              </a:rPr>
              <a:t>SPECTRA</a:t>
            </a:r>
          </a:p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Wavelength spectra — the WLS cascade</a:t>
            </a:r>
          </a:p>
        </p:txBody>
      </p:sp>
      <p:pic>
        <p:nvPicPr>
          <p:cNvPr id="5" name="Picture 4" descr="fig_01_cell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25880"/>
            <a:ext cx="7589520" cy="41750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38160" y="1554480"/>
            <a:ext cx="374903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F2D3D"/>
                </a:solidFill>
                <a:latin typeface="Calibri"/>
              </a:rPr>
              <a:t>•  Each stage shifts redward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5A636E"/>
                </a:solidFill>
                <a:latin typeface="Calibri"/>
              </a:rPr>
              <a:t>–  Incident primary UV is absorbed by pTP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5A636E"/>
                </a:solidFill>
                <a:latin typeface="Calibri"/>
              </a:rPr>
              <a:t>–  pTP re-emits in the near-UV/blue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5A636E"/>
                </a:solidFill>
                <a:latin typeface="Calibri"/>
              </a:rPr>
              <a:t>–  Blue-WLS slab re-emits deeper blue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5A636E"/>
                </a:solidFill>
                <a:latin typeface="Calibri"/>
              </a:rPr>
              <a:t>–  Spectrum arriving at SiPM matches the blue-WLS emission, folded with transport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F2D3D"/>
                </a:solidFill>
                <a:latin typeface="Calibri"/>
              </a:rPr>
              <a:t>•  Confirms the two-stage down-conversion works as designed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72B7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72B7B2"/>
                </a:solidFill>
                <a:latin typeface="Calibri"/>
              </a:rPr>
              <a:t>GEOMETRY CHECK</a:t>
            </a:r>
          </a:p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SiPM spatial hit maps</a:t>
            </a:r>
          </a:p>
        </p:txBody>
      </p:sp>
      <p:pic>
        <p:nvPicPr>
          <p:cNvPr id="5" name="Picture 4" descr="fig_02_cell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7680960" cy="3155102"/>
          </a:xfrm>
          <a:prstGeom prst="rect">
            <a:avLst/>
          </a:prstGeom>
        </p:spPr>
      </p:pic>
      <p:pic>
        <p:nvPicPr>
          <p:cNvPr id="6" name="Picture 5" descr="fig_03_cell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525" y="4663440"/>
            <a:ext cx="7632550" cy="2011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138160" y="1463040"/>
            <a:ext cx="3749039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F2D3D"/>
                </a:solidFill>
                <a:latin typeface="Calibri"/>
              </a:rPr>
              <a:t>•  Two bands at y ≈ ±75 mm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5A636E"/>
                </a:solidFill>
                <a:latin typeface="Calibri"/>
              </a:rPr>
              <a:t>–  Confirms SiPMs on the ±y slab edges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5A636E"/>
                </a:solidFill>
                <a:latin typeface="Calibri"/>
              </a:rPr>
              <a:t>–  Pre-PDE vs post-PDE shows detection thinning (≈60% PDE)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5A636E"/>
                </a:solidFill>
                <a:latin typeface="Calibri"/>
              </a:rPr>
              <a:t>–  z-profile clusters at the blue-slab depth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54A24B"/>
                </a:solidFill>
                <a:latin typeface="Calibri"/>
              </a:rPr>
              <a:t>•  558 k reach SiPM → 333 k detected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72B7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72B7B2"/>
                </a:solidFill>
                <a:latin typeface="Calibri"/>
              </a:rPr>
              <a:t>DIAGNOSTICS</a:t>
            </a:r>
          </a:p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Angular &amp; timing distributions</a:t>
            </a:r>
          </a:p>
        </p:txBody>
      </p:sp>
      <p:pic>
        <p:nvPicPr>
          <p:cNvPr id="5" name="Picture 4" descr="fig_04_cell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0"/>
            <a:ext cx="11430000" cy="326915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4777916"/>
            <a:ext cx="11430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5A636E"/>
                </a:solidFill>
                <a:latin typeface="Calibri"/>
              </a:rPr>
              <a:t>WLS emission cos θ and φ (isotropy check) · photon arrival time at the SiPMs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4864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5A636E"/>
                </a:solidFill>
                <a:latin typeface="Calibri"/>
              </a:rPr>
              <a:t>•  cos θ and φ are flat → isotropic re-emission for both pTP and blue emitters; arrival-time spread reflects TIR path-length variation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72B7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72B7B2"/>
                </a:solidFill>
                <a:latin typeface="Calibri"/>
              </a:rPr>
              <a:t>LOSS ANALYSIS</a:t>
            </a:r>
          </a:p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Photon fate budget &amp; leak accounting</a:t>
            </a:r>
          </a:p>
        </p:txBody>
      </p:sp>
      <p:pic>
        <p:nvPicPr>
          <p:cNvPr id="5" name="Picture 4" descr="fig_05_cell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7498079" cy="328903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046720" y="1554480"/>
            <a:ext cx="3840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F2D3D"/>
                </a:solidFill>
                <a:latin typeface="Calibri"/>
              </a:rPr>
              <a:t>•  Where first-layer light goes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5A636E"/>
                </a:solidFill>
                <a:latin typeface="Calibri"/>
              </a:rPr>
              <a:t>–  8.59 M pTP births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5A636E"/>
                </a:solidFill>
                <a:latin typeface="Calibri"/>
              </a:rPr>
              <a:t>–  11.3 M cross the 1st back face into the gap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E45756"/>
                </a:solidFill>
                <a:latin typeface="Calibri"/>
              </a:rPr>
              <a:t>–  270 k escape laterally at ±x edges (loss)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5A636E"/>
                </a:solidFill>
                <a:latin typeface="Calibri"/>
              </a:rPr>
              <a:t>–  5.55 M blue-WLS births downstream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54A24B"/>
                </a:solidFill>
                <a:latin typeface="Calibri"/>
              </a:rPr>
              <a:t>–  Only 433 leak through the 2nd backplane (Vikuiti works)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F2D3D"/>
                </a:solidFill>
                <a:latin typeface="Calibri"/>
              </a:rPr>
              <a:t>•  Dominant loss is optical transport, not backplane leakage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72B7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72B7B2"/>
                </a:solidFill>
                <a:latin typeface="Calibri"/>
              </a:rPr>
              <a:t>SANITY CHECK</a:t>
            </a:r>
          </a:p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Optical validation — Fresnel reflectance</a:t>
            </a:r>
          </a:p>
        </p:txBody>
      </p:sp>
      <p:pic>
        <p:nvPicPr>
          <p:cNvPr id="5" name="Picture 4" descr="fig_06_cell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6949440" cy="382290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80960" y="1645920"/>
            <a:ext cx="4206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F2D3D"/>
                </a:solidFill>
                <a:latin typeface="Calibri"/>
              </a:rPr>
              <a:t>•  Reflected fraction rises with incident angle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5A636E"/>
                </a:solidFill>
                <a:latin typeface="Calibri"/>
              </a:rPr>
              <a:t>–  Expected Fresnel behaviour at the first surface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5A636E"/>
                </a:solidFill>
                <a:latin typeface="Calibri"/>
              </a:rPr>
              <a:t>–  4.53% of 10 M primaries reflected overall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54A24B"/>
                </a:solidFill>
                <a:latin typeface="Calibri"/>
              </a:rPr>
              <a:t>–  95.47% transmitted into the stack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F2D3D"/>
                </a:solidFill>
                <a:latin typeface="Calibri"/>
              </a:rPr>
              <a:t>•  Confirms surface optics are modelled correctly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72B7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72B7B2"/>
                </a:solidFill>
                <a:latin typeface="Calibri"/>
              </a:rPr>
              <a:t>TAKEAWAYS</a:t>
            </a:r>
          </a:p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Summary &amp; conclusions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71600"/>
            <a:ext cx="2697480" cy="137160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2697480" cy="73152"/>
          </a:xfrm>
          <a:prstGeom prst="rect">
            <a:avLst/>
          </a:prstGeom>
          <a:solidFill>
            <a:srgbClr val="E457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481328"/>
            <a:ext cx="2697480" cy="12618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1">
                <a:solidFill>
                  <a:srgbClr val="E45756"/>
                </a:solidFill>
              </a:rPr>
              <a:t>85.90%</a:t>
            </a:r>
          </a:p>
          <a:p>
            <a:pPr algn="ctr"/>
            <a:r>
              <a:rPr sz="1200">
                <a:solidFill>
                  <a:srgbClr val="5A636E"/>
                </a:solidFill>
              </a:rPr>
              <a:t>pTP WLS efficiency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3280" y="1371600"/>
            <a:ext cx="2697480" cy="137160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383280" y="1371600"/>
            <a:ext cx="2697480" cy="73152"/>
          </a:xfrm>
          <a:prstGeom prst="rect">
            <a:avLst/>
          </a:prstGeom>
          <a:solidFill>
            <a:srgbClr val="4C7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383280" y="1481328"/>
            <a:ext cx="2697480" cy="12618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1">
                <a:solidFill>
                  <a:srgbClr val="4C78A8"/>
                </a:solidFill>
              </a:rPr>
              <a:t>64.59%</a:t>
            </a:r>
          </a:p>
          <a:p>
            <a:pPr algn="ctr"/>
            <a:r>
              <a:rPr sz="1200">
                <a:solidFill>
                  <a:srgbClr val="5A636E"/>
                </a:solidFill>
              </a:rPr>
              <a:t>2nd-stage conversion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371600"/>
            <a:ext cx="2697480" cy="137160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63640" y="1371600"/>
            <a:ext cx="2697480" cy="73152"/>
          </a:xfrm>
          <a:prstGeom prst="rect">
            <a:avLst/>
          </a:prstGeom>
          <a:solidFill>
            <a:srgbClr val="72B7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63640" y="1481328"/>
            <a:ext cx="2697480" cy="12618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1">
                <a:solidFill>
                  <a:srgbClr val="72B7B2"/>
                </a:solidFill>
              </a:rPr>
              <a:t>10.06%</a:t>
            </a:r>
          </a:p>
          <a:p>
            <a:pPr algn="ctr"/>
            <a:r>
              <a:rPr sz="1200">
                <a:solidFill>
                  <a:srgbClr val="5A636E"/>
                </a:solidFill>
              </a:rPr>
              <a:t>collection to SiPM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0" y="1371600"/>
            <a:ext cx="2697480" cy="137160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9144000" y="1371600"/>
            <a:ext cx="2697480" cy="73152"/>
          </a:xfrm>
          <a:prstGeom prst="rect">
            <a:avLst/>
          </a:prstGeom>
          <a:solidFill>
            <a:srgbClr val="54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0" y="1481328"/>
            <a:ext cx="2697480" cy="12618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1">
                <a:solidFill>
                  <a:srgbClr val="54A24B"/>
                </a:solidFill>
              </a:rPr>
              <a:t>59.76%</a:t>
            </a:r>
          </a:p>
          <a:p>
            <a:pPr algn="ctr"/>
            <a:r>
              <a:rPr sz="1200">
                <a:solidFill>
                  <a:srgbClr val="5A636E"/>
                </a:solidFill>
              </a:rPr>
              <a:t>average PDE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017520"/>
            <a:ext cx="4937760" cy="155448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" y="3017520"/>
            <a:ext cx="493776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600" b="1">
                <a:solidFill>
                  <a:srgbClr val="FFFFFF"/>
                </a:solidFill>
                <a:latin typeface="Calibri"/>
              </a:rPr>
              <a:t>3.34%</a:t>
            </a:r>
          </a:p>
          <a:p>
            <a:pPr algn="ctr"/>
            <a:r>
              <a:rPr sz="1400" b="0">
                <a:solidFill>
                  <a:srgbClr val="72B7B2"/>
                </a:solidFill>
                <a:latin typeface="Calibri"/>
              </a:rPr>
              <a:t>detected photoelectrons per incident primary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0" y="3063240"/>
            <a:ext cx="62179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1F2D3D"/>
                </a:solidFill>
                <a:latin typeface="Calibri"/>
              </a:rPr>
              <a:t>•  pTP first-layer conversion is highly efficient (86%)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F2D3D"/>
                </a:solidFill>
                <a:latin typeface="Calibri"/>
              </a:rPr>
              <a:t>•  End-to-end yield is transport-limited: collection to the SiPMs is the bottleneck (~10%)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F2D3D"/>
                </a:solidFill>
                <a:latin typeface="Calibri"/>
              </a:rPr>
              <a:t>•  Backplane leakage is negligible (433 of millions) — Vikuiti foil performs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F2D3D"/>
                </a:solidFill>
                <a:latin typeface="Calibri"/>
              </a:rPr>
              <a:t>•  Lateral ±x edge escape (270 k) is a recoverable loss channel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5A636E"/>
                </a:solidFill>
                <a:latin typeface="Calibri"/>
              </a:rPr>
              <a:t>•  Reproducible: re-point ROOT_FILE in the notebook to analyze any run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0B0C035-3C88-C417-1163-AE48D9276C88}"/>
              </a:ext>
            </a:extLst>
          </p:cNvPr>
          <p:cNvSpPr txBox="1"/>
          <p:nvPr/>
        </p:nvSpPr>
        <p:spPr>
          <a:xfrm>
            <a:off x="1183341" y="1484555"/>
            <a:ext cx="712156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new scripts run the simulation with and without PTFE or </a:t>
            </a:r>
            <a:r>
              <a:rPr lang="en-US" dirty="0" err="1"/>
              <a:t>Vikuiti</a:t>
            </a:r>
            <a:r>
              <a:rPr lang="en-US" dirty="0"/>
              <a:t> foils at the backplane.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An analysis script comparing those results needs to be written.</a:t>
            </a:r>
          </a:p>
        </p:txBody>
      </p:sp>
    </p:spTree>
    <p:extLst>
      <p:ext uri="{BB962C8B-B14F-4D97-AF65-F5344CB8AC3E}">
        <p14:creationId xmlns:p14="http://schemas.microsoft.com/office/powerpoint/2010/main" val="1874057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</TotalTime>
  <Words>638</Words>
  <Application>Microsoft Macintosh PowerPoint</Application>
  <PresentationFormat>Widescreen</PresentationFormat>
  <Paragraphs>87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Razakamiandra, Rado Fanantenana</cp:lastModifiedBy>
  <cp:revision>3</cp:revision>
  <dcterms:created xsi:type="dcterms:W3CDTF">2013-01-27T09:14:16Z</dcterms:created>
  <dcterms:modified xsi:type="dcterms:W3CDTF">2026-07-21T20:07:18Z</dcterms:modified>
  <cp:category/>
</cp:coreProperties>
</file>